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Apresentar o tema: como a Cotripal usa IA como copiloto da gestão, da assistência técnica e do associado, sempre com humano no centro. Painel para estudantes: 15 a 20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Tese central (1,5 min). A IA sugere, o gestor interpreta, o conselho orienta e o associado recebe valor. A frase do head de inovação resume o espírito: quanto mais capaz a máquina, mais valioso o discernimento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Paradigma (1,5 min). O framework de cooperativa inteligente tem três frentes, conectadas por TIC e pela decisão humana assistida. Ligar com a visão do head de inovação: cooperativas nasceram na lógica de ecossistema e agora a IA acelera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estratégico (1 min). Mostrar o mapa estratégico da Cotripal e posicionar a IA como apoio às perspectivas de associados, processos e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pilares (1,5 min). Membros, Economia e Governança, sobre uma arquitetura em quatro camadas: dados, inteligência, ação e governança. A IA atravessa todos os pilares. Meta: transformar sistemas dispersos em um ambiente de decisão integrado, seguro e cooperativo.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Pilar 1 (2 min). SmartCoop é a plataforma; Ana é a IA na mão do produtor. O ciclo mostra como cada interação gera valor para o produtor (verde) e aprendizado para a rede (azul). Usar a visão de que o cliente também é produtor de dados e conhecimento.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Campo (1,5 min). Satélite, clima e histórico dão visibilidade ao talhão. A IA não entrega a resposta pronta: melhora a conversa entre produtor, técnico e cooperativa.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Pilar 2 (1,5 min). A IA prioriza oportunidades por unidade, perfil de produtor e subgrupo de produto. Clientes A recebem abordagem humana; B e C, comunicação segmentada com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Segmentação (1 min). A matriz 9-Box cruza potencial e share; a tabela por subgrupo mostra o gap e a ação sugerida. A IA sugere a pauta; a decisão é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Pilar 3 (1,5 min). J.U.L.I.A. é o copiloto de gestão: pergunta em linguagem natural, consulta os sistemas, sintetiza para a decisão humana e registra o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Gestão interna (1 min). O mesmo princípio aplicado a lojas e unidades: o gestor chega à reunião já sabendo o que piorou e o que melhorou, e a ação continua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Agentes (2 min). Convert: agentes que falam direto com o cliente no WhatsApp corporativo, como a Cora. Agrobi: agentes especialistas em áreas de negócio que leem os dados e sugerem estratégias a gestores. Ponte com o artigo: agentes passam da conversa à ação, então autonomia e limites são decisão de liderança.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STRATA (2 min). Framework em construção para modernizar o ERP COBOL: padronizar, reconstruir o as-is em seis camadas, elicitar conhecimento, projetar o to-be e ingerir tudo em RAG. Cada gate depende de cobertura suficiente da fase anterior. Para estudantes: modernizar legado é, antes de tudo, um problema de conhecimento, não só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KAPTA (1,5 min). Framework em construção que transforma conversa em conhecimento versionado: elicitar, extrair, estruturar, revisar, publicar e manter. O conhecimento tem prazo e a recuperação sempre cita a fonte. Pode alimentar a Fase 2 do 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Governança (1,5 min). Quatro frentes: qualidade dos dados, transparência, segurança e privacidade, responsabilidade. Segurança da informação faz parte da arquitetura de confiança do ecossistema. Inovar com autonomia suficiente para gerar valor e governança suficiente para preservar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(1,5 min). Três horizontes: agora, próximo passo e futuro desejado. Fechar com o princípio: a IA fortalece o cooperativismo, não o substitui. Abrir para perguntas dos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3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32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502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8920"/>
            <a:ext cx="10566400" cy="42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502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8920"/>
            <a:ext cx="10566400" cy="42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502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8920"/>
            <a:ext cx="10566400" cy="42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502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8920"/>
            <a:ext cx="10566400" cy="42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2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1502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8920"/>
            <a:ext cx="10566400" cy="420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812800" y="355600"/>
            <a:ext cx="1270000" cy="63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80200" y="1333500"/>
            <a:ext cx="4699000" cy="4006850"/>
          </a:xfrm>
          <a:prstGeom prst="roundRect">
            <a:avLst>
              <a:gd name="adj" fmla="val 2536"/>
            </a:avLst>
          </a:prstGeom>
          <a:solidFill>
            <a:srgbClr val="0A1630"/>
          </a:solidFill>
          <a:ln/>
          <a:effectLst>
            <a:outerShdw sx="100000" sy="100000" kx="0" ky="0" algn="bl" rotWithShape="0" blurRad="406400" dist="2032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1" descr="Central de Comando IA, J.U.L.I.A.">    </p:cNvPr>
          <p:cNvPicPr>
            <a:picLocks noChangeAspect="1"/>
          </p:cNvPicPr>
          <p:nvPr/>
        </p:nvPicPr>
        <p:blipFill>
          <a:blip r:embed="rId2"/>
          <a:srcRect l="-44" r="-44" t="0" b="0"/>
          <a:stretch/>
        </p:blipFill>
        <p:spPr>
          <a:xfrm>
            <a:off x="6686550" y="1339850"/>
            <a:ext cx="4686300" cy="3994150"/>
          </a:xfrm>
          <a:prstGeom prst="roundRect">
            <a:avLst>
              <a:gd name="adj" fmla="val 2385"/>
            </a:avLst>
          </a:prstGeom>
        </p:spPr>
      </p:pic>
      <p:sp>
        <p:nvSpPr>
          <p:cNvPr id="5" name="Shape 1"/>
          <p:cNvSpPr/>
          <p:nvPr/>
        </p:nvSpPr>
        <p:spPr>
          <a:xfrm>
            <a:off x="6683375" y="1336675"/>
            <a:ext cx="4692650" cy="4000500"/>
          </a:xfrm>
          <a:prstGeom prst="roundRect">
            <a:avLst>
              <a:gd name="adj" fmla="val 2460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12800" y="124241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8BC53F"/>
          </a:solidFill>
          <a:ln/>
        </p:spPr>
      </p:sp>
      <p:sp>
        <p:nvSpPr>
          <p:cNvPr id="7" name="Text 3"/>
          <p:cNvSpPr/>
          <p:nvPr>
            <p:ph type="title"/>
          </p:nvPr>
        </p:nvSpPr>
        <p:spPr>
          <a:xfrm>
            <a:off x="812800" y="1483717"/>
            <a:ext cx="5886450" cy="1663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48"/>
              </a:lnSpc>
              <a:buNone/>
            </a:pPr>
            <a:r>
              <a:rPr lang="en-US" sz="6200" b="1" i="0" spc="-10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IA Cooperativa em Movimento</a:t>
            </a:r>
            <a:endParaRPr lang="en-US" sz="6200" dirty="0"/>
          </a:p>
        </p:txBody>
      </p:sp>
      <p:sp>
        <p:nvSpPr>
          <p:cNvPr id="8" name="Text 4"/>
          <p:cNvSpPr/>
          <p:nvPr/>
        </p:nvSpPr>
        <p:spPr>
          <a:xfrm>
            <a:off x="812800" y="3324622"/>
            <a:ext cx="575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da Cotripal para uma Cooperativa Inteligente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12800" y="4188222"/>
            <a:ext cx="57556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como copiloto da gestão, da assistência técnica e da participação do associado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2800" y="4924822"/>
            <a:ext cx="588645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 DA INOVAÇÃO · COOPERATIVA INTELIGENTE · HUMAN-IN-THE-LOOP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INTELIGÊNCIA ARTIFICIAL APLICADA AO COOPERATIVISMO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4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4FA8"/>
              </a:gs>
              <a:gs pos="55000">
                <a:srgbClr val="0A2D75"/>
              </a:gs>
              <a:gs pos="100000">
                <a:srgbClr val="071845"/>
              </a:gs>
            </a:gsLst>
            <a:lin ang="2700000" scaled="0"/>
          </a:gradFill>
          <a:ln/>
        </p:spPr>
      </p:sp>
      <p:pic>
        <p:nvPicPr>
          <p:cNvPr id="3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TESE DA COTRIPAL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1229320"/>
            <a:ext cx="10883392" cy="327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A9C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estamos “entregando a gestão” para a IA.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2800" y="1657945"/>
            <a:ext cx="9810750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Estamos colocando dados, riscos e oportunidades na mesa para que </a:t>
            </a:r>
            <a:r>
              <a:rPr lang="en-US" sz="3200" b="1" spc="-50" kern="0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humanos decidam melhor</a:t>
            </a:r>
            <a:r>
              <a:rPr lang="en-US" sz="3200" b="1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.</a:t>
            </a:r>
            <a:endParaRPr lang="en-US" sz="3200" dirty="0"/>
          </a:p>
        </p:txBody>
      </p:sp>
      <p:pic>
        <p:nvPicPr>
          <p:cNvPr id="7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846586"/>
            <a:ext cx="2413000" cy="25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800" y="2948186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12800" y="3291086"/>
            <a:ext cx="248539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sugere</a:t>
            </a:r>
            <a:endParaRPr lang="en-US" sz="1900" dirty="0"/>
          </a:p>
        </p:txBody>
      </p:sp>
      <p:pic>
        <p:nvPicPr>
          <p:cNvPr id="10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30600" y="2846586"/>
            <a:ext cx="2413000" cy="25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30600" y="2948186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530600" y="3291086"/>
            <a:ext cx="248539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 interpreta</a:t>
            </a:r>
            <a:endParaRPr lang="en-US" sz="1900" dirty="0"/>
          </a:p>
        </p:txBody>
      </p:sp>
      <p:pic>
        <p:nvPicPr>
          <p:cNvPr id="13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48400" y="2846586"/>
            <a:ext cx="2413000" cy="25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8400" y="2948186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248400" y="3291086"/>
            <a:ext cx="248539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Conselho orienta</a:t>
            </a:r>
            <a:endParaRPr lang="en-US" sz="1900" dirty="0"/>
          </a:p>
        </p:txBody>
      </p:sp>
      <p:pic>
        <p:nvPicPr>
          <p:cNvPr id="16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66200" y="2846586"/>
            <a:ext cx="2413000" cy="254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66200" y="2948186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966200" y="3291086"/>
            <a:ext cx="2485390" cy="700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Associado recebe valor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812800" y="4220567"/>
            <a:ext cx="981075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papel da IA é reduzir ruído, revelar padrões e acelerar análises. A responsabilidade permanece humana, cooperativa e transparente.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12800" y="5023048"/>
            <a:ext cx="98107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“Quanto mais inteligente a máquina, mais humano precisa ser o julgamento.” </a:t>
            </a:r>
            <a:r>
              <a:rPr lang="en-US" sz="1400" dirty="0">
                <a:solidFill>
                  <a:srgbClr val="A9C2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Diego Boelter, PRISMA | Escoop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9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9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PARADIGMA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277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Cooperativa Inteligente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727101"/>
            <a:ext cx="11379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cooperativa deixa de ser apenas um hub transacional e passa a orquestrar um ecossistema de dados.</a:t>
            </a:r>
            <a:endParaRPr lang="en-US" sz="1500" dirty="0"/>
          </a:p>
        </p:txBody>
      </p:sp>
      <p:pic>
        <p:nvPicPr>
          <p:cNvPr id="6" name="Image 1" descr="Três círculos: membros, economia e governança inteligentes, com decisão humana assistida no centr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136676"/>
            <a:ext cx="406400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650" y="3089176"/>
            <a:ext cx="125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Membros inteligentes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295650" y="3089176"/>
            <a:ext cx="125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inteligente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216150" y="4740176"/>
            <a:ext cx="125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Economia inteligente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343150" y="3438426"/>
            <a:ext cx="1003300" cy="6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humana assistida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2153345"/>
            <a:ext cx="606958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TIC: infraestrutura digital, dados e integração de ponta a ponta sustentam os três pilares.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2760365"/>
            <a:ext cx="6069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MOVIMENTOS DE GESTÃO EM ECOSSISTEMAS</a:t>
            </a:r>
            <a:endParaRPr lang="en-US" sz="1200" dirty="0"/>
          </a:p>
        </p:txBody>
      </p:sp>
      <p:pic>
        <p:nvPicPr>
          <p:cNvPr id="13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3100685"/>
            <a:ext cx="5892800" cy="12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3240385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108700" y="3303885"/>
            <a:ext cx="54286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controle de recursos para a </a:t>
            </a:r>
            <a:r>
              <a:rPr lang="en-US" sz="16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</a:t>
            </a:r>
            <a:r>
              <a: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recursos</a:t>
            </a:r>
            <a:endParaRPr lang="en-US" sz="1600" dirty="0"/>
          </a:p>
        </p:txBody>
      </p:sp>
      <p:pic>
        <p:nvPicPr>
          <p:cNvPr id="16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0" y="3959126"/>
            <a:ext cx="5892800" cy="127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4098826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108700" y="4162326"/>
            <a:ext cx="54286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otimização interna para a </a:t>
            </a:r>
            <a:r>
              <a:rPr lang="en-US" sz="16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facilitação de interações externas</a:t>
            </a:r>
            <a:endParaRPr lang="en-US" sz="1600" dirty="0"/>
          </a:p>
        </p:txBody>
      </p:sp>
      <p:pic>
        <p:nvPicPr>
          <p:cNvPr id="19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0" y="4817566"/>
            <a:ext cx="5892800" cy="12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0" y="4957266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6108700" y="5020766"/>
            <a:ext cx="542861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valor criado pela organização para o </a:t>
            </a:r>
            <a:r>
              <a:rPr lang="en-US" sz="16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criado no ecossistema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BASE: SMART CO-OPERATIVE MANAGEMENT FRAMEWORK · D. BOELTER (2025)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7620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Mapa estratégico</a:t>
            </a:r>
            <a:endParaRPr lang="en-US" sz="2800" dirty="0"/>
          </a:p>
        </p:txBody>
      </p:sp>
      <p:pic>
        <p:nvPicPr>
          <p:cNvPr id="4" name="Image 1" descr="Mapa estratégico da Cotripal, versão 2025">    </p:cNvPr>
          <p:cNvPicPr>
            <a:picLocks noChangeAspect="1"/>
          </p:cNvPicPr>
          <p:nvPr/>
        </p:nvPicPr>
        <p:blipFill>
          <a:blip r:embed="rId2"/>
          <a:srcRect l="0" r="0" t="-31" b="-31"/>
          <a:stretch/>
        </p:blipFill>
        <p:spPr>
          <a:xfrm>
            <a:off x="3429000" y="1280120"/>
            <a:ext cx="5334000" cy="4445000"/>
          </a:xfrm>
          <a:prstGeom prst="roundRect">
            <a:avLst>
              <a:gd name="adj" fmla="val 1714"/>
            </a:avLst>
          </a:prstGeom>
          <a:effectLst>
            <a:outerShdw sx="100000" sy="100000" kx="0" ky="0" algn="bl" rotWithShape="0" blurRad="355600" dist="152400" dir="5400000">
              <a:srgbClr val="000000">
                <a:alpha val="45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FRAMEWORK À PRÁTICA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404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Três pilares, uma plataforma de decisão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2800" y="1752501"/>
            <a:ext cx="3403600" cy="2179638"/>
          </a:xfrm>
          <a:prstGeom prst="roundRect">
            <a:avLst>
              <a:gd name="adj" fmla="val 582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1955701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6000" y="2410321"/>
            <a:ext cx="308711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Membros inteligentes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000" y="2748062"/>
            <a:ext cx="30871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SmartCoop + Ana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6000" y="3060402"/>
            <a:ext cx="308711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Recomendações de manejo, clima, cultivo e boas práticas. O produtor gera e recebe valor do ecossistema.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4200" y="1752501"/>
            <a:ext cx="3403600" cy="2179638"/>
          </a:xfrm>
          <a:prstGeom prst="roundRect">
            <a:avLst>
              <a:gd name="adj" fmla="val 582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597400" y="1955701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7FB0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597400" y="2410321"/>
            <a:ext cx="308711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Economia inteligente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97400" y="2748062"/>
            <a:ext cx="30871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+ BI + campanhas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97400" y="3060402"/>
            <a:ext cx="308711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Segmentação, oportunidades, mix de insumos, visitas priorizadas e valor econômico compartilhado.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75600" y="1752501"/>
            <a:ext cx="3403600" cy="2179638"/>
          </a:xfrm>
          <a:prstGeom prst="roundRect">
            <a:avLst>
              <a:gd name="adj" fmla="val 582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178800" y="1955701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178800" y="2410321"/>
            <a:ext cx="308711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inteligente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78800" y="2748062"/>
            <a:ext cx="30871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E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J.U.L.I.A. + dashboards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78800" y="3060402"/>
            <a:ext cx="308711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econômicos, sociais e operacionais mais visíveis para decisão executiva e conselho.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2800" y="409723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LÓGICA</a:t>
            </a:r>
            <a:endParaRPr lang="en-US" sz="1200" dirty="0"/>
          </a:p>
        </p:txBody>
      </p:sp>
      <p:pic>
        <p:nvPicPr>
          <p:cNvPr id="21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475659"/>
            <a:ext cx="2508250" cy="25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12800" y="4551859"/>
            <a:ext cx="25834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12800" y="4851499"/>
            <a:ext cx="258349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• CRM • BI • SmartCoop • satélite • clima • histórico técnico</a:t>
            </a:r>
            <a:endParaRPr lang="en-US" sz="1200" dirty="0"/>
          </a:p>
        </p:txBody>
      </p:sp>
      <p:pic>
        <p:nvPicPr>
          <p:cNvPr id="24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98850" y="4475659"/>
            <a:ext cx="2508250" cy="25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98850" y="4551859"/>
            <a:ext cx="25834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498850" y="4851499"/>
            <a:ext cx="2583498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preditivos • segmentação • copilotos • recomendadores • ontologias</a:t>
            </a:r>
            <a:endParaRPr lang="en-US" sz="1200" dirty="0"/>
          </a:p>
        </p:txBody>
      </p:sp>
      <p:pic>
        <p:nvPicPr>
          <p:cNvPr id="2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84900" y="4475659"/>
            <a:ext cx="2508250" cy="254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84900" y="4551859"/>
            <a:ext cx="25834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184900" y="4851499"/>
            <a:ext cx="2583498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• J.U.L.I.A. • campanhas • alertas • visitas • painéis executivos</a:t>
            </a:r>
            <a:endParaRPr lang="en-US" sz="1200" dirty="0"/>
          </a:p>
        </p:txBody>
      </p:sp>
      <p:pic>
        <p:nvPicPr>
          <p:cNvPr id="30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70950" y="4475659"/>
            <a:ext cx="2508250" cy="254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70950" y="4551859"/>
            <a:ext cx="25834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870950" y="4851499"/>
            <a:ext cx="2583498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 • consentimento • auditoria • alçadas • conselho • segurança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É UMA CAMADA TRANSVERSAL: RECOMENDA, INTERPRETA, PRIORIZA E EXPLICA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1 · MEMBROS INTELIGENTES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50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SmartCoop + Ana: o produtor como ator ativo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12800" y="1673820"/>
            <a:ext cx="3416300" cy="1924050"/>
          </a:xfrm>
          <a:prstGeom prst="roundRect">
            <a:avLst>
              <a:gd name="adj" fmla="val 3960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1" descr="SmartCoop">    </p:cNvPr>
          <p:cNvPicPr>
            <a:picLocks noChangeAspect="1"/>
          </p:cNvPicPr>
          <p:nvPr/>
        </p:nvPicPr>
        <p:blipFill>
          <a:blip r:embed="rId2"/>
          <a:srcRect l="-134" r="-134" t="0" b="0"/>
          <a:stretch/>
        </p:blipFill>
        <p:spPr>
          <a:xfrm>
            <a:off x="819150" y="1680170"/>
            <a:ext cx="3403600" cy="1911350"/>
          </a:xfrm>
          <a:prstGeom prst="roundRect">
            <a:avLst>
              <a:gd name="adj" fmla="val 3654"/>
            </a:avLst>
          </a:prstGeom>
        </p:spPr>
      </p:pic>
      <p:sp>
        <p:nvSpPr>
          <p:cNvPr id="7" name="Shape 3"/>
          <p:cNvSpPr/>
          <p:nvPr/>
        </p:nvSpPr>
        <p:spPr>
          <a:xfrm>
            <a:off x="815975" y="1676995"/>
            <a:ext cx="3409950" cy="1917700"/>
          </a:xfrm>
          <a:prstGeom prst="roundRect">
            <a:avLst>
              <a:gd name="adj" fmla="val 3808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2800" y="3661370"/>
            <a:ext cx="35187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SmartCoop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81500" y="1673820"/>
            <a:ext cx="3416300" cy="1924050"/>
          </a:xfrm>
          <a:prstGeom prst="roundRect">
            <a:avLst>
              <a:gd name="adj" fmla="val 3960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2" descr="Manejo e clima">    </p:cNvPr>
          <p:cNvPicPr>
            <a:picLocks noChangeAspect="1"/>
          </p:cNvPicPr>
          <p:nvPr/>
        </p:nvPicPr>
        <p:blipFill>
          <a:blip r:embed="rId3"/>
          <a:srcRect l="-98" r="-98" t="0" b="0"/>
          <a:stretch/>
        </p:blipFill>
        <p:spPr>
          <a:xfrm>
            <a:off x="4387850" y="1680170"/>
            <a:ext cx="3403600" cy="1911350"/>
          </a:xfrm>
          <a:prstGeom prst="roundRect">
            <a:avLst>
              <a:gd name="adj" fmla="val 3654"/>
            </a:avLst>
          </a:prstGeom>
        </p:spPr>
      </p:pic>
      <p:sp>
        <p:nvSpPr>
          <p:cNvPr id="11" name="Shape 6"/>
          <p:cNvSpPr/>
          <p:nvPr/>
        </p:nvSpPr>
        <p:spPr>
          <a:xfrm>
            <a:off x="4384675" y="1676995"/>
            <a:ext cx="3409950" cy="1917700"/>
          </a:xfrm>
          <a:prstGeom prst="roundRect">
            <a:avLst>
              <a:gd name="adj" fmla="val 3808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381500" y="3661370"/>
            <a:ext cx="35187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e clima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950200" y="1673820"/>
            <a:ext cx="3416300" cy="1924050"/>
          </a:xfrm>
          <a:prstGeom prst="roundRect">
            <a:avLst>
              <a:gd name="adj" fmla="val 3960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3" descr="Histórico e benchmark">    </p:cNvPr>
          <p:cNvPicPr>
            <a:picLocks noChangeAspect="1"/>
          </p:cNvPicPr>
          <p:nvPr/>
        </p:nvPicPr>
        <p:blipFill>
          <a:blip r:embed="rId4"/>
          <a:srcRect l="-124" r="-124" t="0" b="0"/>
          <a:stretch/>
        </p:blipFill>
        <p:spPr>
          <a:xfrm>
            <a:off x="7956550" y="1680170"/>
            <a:ext cx="3403600" cy="1911350"/>
          </a:xfrm>
          <a:prstGeom prst="roundRect">
            <a:avLst>
              <a:gd name="adj" fmla="val 3654"/>
            </a:avLst>
          </a:prstGeom>
        </p:spPr>
      </p:pic>
      <p:sp>
        <p:nvSpPr>
          <p:cNvPr id="15" name="Shape 9"/>
          <p:cNvSpPr/>
          <p:nvPr/>
        </p:nvSpPr>
        <p:spPr>
          <a:xfrm>
            <a:off x="7953375" y="1676995"/>
            <a:ext cx="3409950" cy="1917700"/>
          </a:xfrm>
          <a:prstGeom prst="roundRect">
            <a:avLst>
              <a:gd name="adj" fmla="val 3808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950200" y="3661370"/>
            <a:ext cx="35187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e benchmark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12800" y="403215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CICLO COOPERATIVO DA ANA</a:t>
            </a:r>
            <a:endParaRPr lang="en-US" sz="1200" dirty="0"/>
          </a:p>
        </p:txBody>
      </p:sp>
      <p:pic>
        <p:nvPicPr>
          <p:cNvPr id="18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4385171"/>
            <a:ext cx="1422400" cy="25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2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da propriedade</a:t>
            </a:r>
            <a:endParaRPr lang="en-US" sz="1300" dirty="0"/>
          </a:p>
        </p:txBody>
      </p:sp>
      <p:pic>
        <p:nvPicPr>
          <p:cNvPr id="20" name="Image 5" descr="lin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336800" y="4385171"/>
            <a:ext cx="1422400" cy="25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336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Recomendação personalizada</a:t>
            </a:r>
            <a:endParaRPr lang="en-US" sz="1300" dirty="0"/>
          </a:p>
        </p:txBody>
      </p:sp>
      <p:pic>
        <p:nvPicPr>
          <p:cNvPr id="22" name="Image 6" descr="lin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860800" y="4385171"/>
            <a:ext cx="1422400" cy="25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60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do produtor</a:t>
            </a:r>
            <a:endParaRPr lang="en-US" sz="1300" dirty="0"/>
          </a:p>
        </p:txBody>
      </p:sp>
      <p:pic>
        <p:nvPicPr>
          <p:cNvPr id="24" name="Image 7" descr="lin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84800" y="4385171"/>
            <a:ext cx="1422400" cy="254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84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resultado</a:t>
            </a:r>
            <a:endParaRPr lang="en-US" sz="1300" dirty="0"/>
          </a:p>
        </p:txBody>
      </p:sp>
      <p:pic>
        <p:nvPicPr>
          <p:cNvPr id="26" name="Image 8" descr="lin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08800" y="4385171"/>
            <a:ext cx="1422400" cy="25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08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para técnicos e gestão</a:t>
            </a:r>
            <a:endParaRPr lang="en-US" sz="1300" dirty="0"/>
          </a:p>
        </p:txBody>
      </p:sp>
      <p:pic>
        <p:nvPicPr>
          <p:cNvPr id="28" name="Image 9" descr="lin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432800" y="4385171"/>
            <a:ext cx="1422400" cy="25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432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Boas práticas para a rede</a:t>
            </a:r>
            <a:endParaRPr lang="en-US" sz="1300" dirty="0"/>
          </a:p>
        </p:txBody>
      </p:sp>
      <p:pic>
        <p:nvPicPr>
          <p:cNvPr id="30" name="Image 10" descr="line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956800" y="4385171"/>
            <a:ext cx="1422400" cy="25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956800" y="4461371"/>
            <a:ext cx="147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coletivo cooperativo</a:t>
            </a:r>
            <a:endParaRPr lang="en-US" sz="1300" dirty="0"/>
          </a:p>
        </p:txBody>
      </p:sp>
      <p:sp>
        <p:nvSpPr>
          <p:cNvPr id="32" name="Text 19"/>
          <p:cNvSpPr/>
          <p:nvPr/>
        </p:nvSpPr>
        <p:spPr>
          <a:xfrm>
            <a:off x="812800" y="5013821"/>
            <a:ext cx="10137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é a IA na mão do produtor: recomenda, explica, compara e aprende com a realidade da propriedade. O associado passa a ser ator ativo no ecossistema de dados.</a:t>
            </a:r>
            <a:endParaRPr lang="en-US" sz="1500" dirty="0"/>
          </a:p>
        </p:txBody>
      </p:sp>
      <p:sp>
        <p:nvSpPr>
          <p:cNvPr id="33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34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1 · SMARTCOOP NO CAMPO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5020"/>
            <a:ext cx="9810750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Campo mais visível, manejo mais preciso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673721"/>
            <a:ext cx="10137775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Satélite, clima, histórico e recomendações convergem para orientar a melhor decisão.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080022"/>
            <a:ext cx="3416300" cy="1917303"/>
          </a:xfrm>
          <a:prstGeom prst="roundRect">
            <a:avLst>
              <a:gd name="adj" fmla="val 3974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NDVI e saúde da lavoura">    </p:cNvPr>
          <p:cNvPicPr>
            <a:picLocks noChangeAspect="1"/>
          </p:cNvPicPr>
          <p:nvPr/>
        </p:nvPicPr>
        <p:blipFill>
          <a:blip r:embed="rId2"/>
          <a:srcRect l="-191" r="-191" t="0" b="0"/>
          <a:stretch/>
        </p:blipFill>
        <p:spPr>
          <a:xfrm>
            <a:off x="819150" y="2086372"/>
            <a:ext cx="3403600" cy="1904603"/>
          </a:xfrm>
          <a:prstGeom prst="roundRect">
            <a:avLst>
              <a:gd name="adj" fmla="val 3667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5975" y="2083197"/>
            <a:ext cx="3409950" cy="1910953"/>
          </a:xfrm>
          <a:prstGeom prst="roundRect">
            <a:avLst>
              <a:gd name="adj" fmla="val 382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4060825"/>
            <a:ext cx="3518789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NDVI / saúde da lavoura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1500" y="2080022"/>
            <a:ext cx="3416300" cy="1917303"/>
          </a:xfrm>
          <a:prstGeom prst="roundRect">
            <a:avLst>
              <a:gd name="adj" fmla="val 3974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2" descr="Manejo por ambiente">    </p:cNvPr>
          <p:cNvPicPr>
            <a:picLocks noChangeAspect="1"/>
          </p:cNvPicPr>
          <p:nvPr/>
        </p:nvPicPr>
        <p:blipFill>
          <a:blip r:embed="rId3"/>
          <a:srcRect l="-238" r="-238" t="0" b="0"/>
          <a:stretch/>
        </p:blipFill>
        <p:spPr>
          <a:xfrm>
            <a:off x="4387850" y="2086372"/>
            <a:ext cx="3403600" cy="1904603"/>
          </a:xfrm>
          <a:prstGeom prst="roundRect">
            <a:avLst>
              <a:gd name="adj" fmla="val 3667"/>
            </a:avLst>
          </a:prstGeom>
        </p:spPr>
      </p:pic>
      <p:sp>
        <p:nvSpPr>
          <p:cNvPr id="12" name="Shape 7"/>
          <p:cNvSpPr/>
          <p:nvPr/>
        </p:nvSpPr>
        <p:spPr>
          <a:xfrm>
            <a:off x="4384675" y="2083197"/>
            <a:ext cx="3409950" cy="1910953"/>
          </a:xfrm>
          <a:prstGeom prst="roundRect">
            <a:avLst>
              <a:gd name="adj" fmla="val 382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81500" y="4060825"/>
            <a:ext cx="3518789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Manejo por ambiente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950200" y="2080022"/>
            <a:ext cx="3416300" cy="1917303"/>
          </a:xfrm>
          <a:prstGeom prst="roundRect">
            <a:avLst>
              <a:gd name="adj" fmla="val 3974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3" descr="Produtividade e histórico">    </p:cNvPr>
          <p:cNvPicPr>
            <a:picLocks noChangeAspect="1"/>
          </p:cNvPicPr>
          <p:nvPr/>
        </p:nvPicPr>
        <p:blipFill>
          <a:blip r:embed="rId4"/>
          <a:srcRect l="-282" r="-282" t="0" b="0"/>
          <a:stretch/>
        </p:blipFill>
        <p:spPr>
          <a:xfrm>
            <a:off x="7956550" y="2086372"/>
            <a:ext cx="3403600" cy="1904603"/>
          </a:xfrm>
          <a:prstGeom prst="roundRect">
            <a:avLst>
              <a:gd name="adj" fmla="val 3667"/>
            </a:avLst>
          </a:prstGeom>
        </p:spPr>
      </p:pic>
      <p:sp>
        <p:nvSpPr>
          <p:cNvPr id="16" name="Shape 10"/>
          <p:cNvSpPr/>
          <p:nvPr/>
        </p:nvSpPr>
        <p:spPr>
          <a:xfrm>
            <a:off x="7953375" y="2083197"/>
            <a:ext cx="3409950" cy="1910953"/>
          </a:xfrm>
          <a:prstGeom prst="roundRect">
            <a:avLst>
              <a:gd name="adj" fmla="val 382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950200" y="4060825"/>
            <a:ext cx="3518789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 e histórico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2800" y="4431506"/>
            <a:ext cx="3523081" cy="58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500 m</a:t>
            </a:r>
            <a:endParaRPr lang="en-US" sz="4200" dirty="0"/>
          </a:p>
        </p:txBody>
      </p:sp>
      <p:sp>
        <p:nvSpPr>
          <p:cNvPr id="19" name="Text 13"/>
          <p:cNvSpPr/>
          <p:nvPr/>
        </p:nvSpPr>
        <p:spPr>
          <a:xfrm>
            <a:off x="812800" y="4991398"/>
            <a:ext cx="3523081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previsão por talhão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385667" y="4431506"/>
            <a:ext cx="3523183" cy="58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7FB0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5 dias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4385667" y="4991398"/>
            <a:ext cx="3523183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revisita Sentinel-2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958634" y="4431506"/>
            <a:ext cx="3523183" cy="58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NDVI / NDRE</a:t>
            </a:r>
            <a:endParaRPr lang="en-US" sz="4200" dirty="0"/>
          </a:p>
        </p:txBody>
      </p:sp>
      <p:sp>
        <p:nvSpPr>
          <p:cNvPr id="23" name="Text 17"/>
          <p:cNvSpPr/>
          <p:nvPr/>
        </p:nvSpPr>
        <p:spPr>
          <a:xfrm>
            <a:off x="7958634" y="4991398"/>
            <a:ext cx="3523183" cy="2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índices para manejo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2800" y="5362079"/>
            <a:ext cx="10137775" cy="505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intenção não é “dar uma resposta pronta”, mas reduzir a incerteza técnica e ampliar a qualidade da conversa entre produtor, técnico e cooperativa.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2 · ECONOMIA INTELIGENTE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50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IA para priorizar oportunidades comerciais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673820"/>
            <a:ext cx="1013777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carteira inteira para ações por unidade, perfil de produtor e subgrupo de produto.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070695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Painel de insights e campanhas">    </p:cNvPr>
          <p:cNvPicPr>
            <a:picLocks noChangeAspect="1"/>
          </p:cNvPicPr>
          <p:nvPr/>
        </p:nvPicPr>
        <p:blipFill>
          <a:blip r:embed="rId2"/>
          <a:srcRect l="-155" r="-155" t="0" b="0"/>
          <a:stretch/>
        </p:blipFill>
        <p:spPr>
          <a:xfrm>
            <a:off x="819150" y="2077045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5975" y="2073870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4775795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de insights e campanhas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0" y="2070695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2" descr="Ações por unidade">    </p:cNvPr>
          <p:cNvPicPr>
            <a:picLocks noChangeAspect="1"/>
          </p:cNvPicPr>
          <p:nvPr/>
        </p:nvPicPr>
        <p:blipFill>
          <a:blip r:embed="rId3"/>
          <a:srcRect l="-155" r="-155" t="0" b="0"/>
          <a:stretch/>
        </p:blipFill>
        <p:spPr>
          <a:xfrm>
            <a:off x="5721350" y="2077045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12" name="Shape 7"/>
          <p:cNvSpPr/>
          <p:nvPr/>
        </p:nvSpPr>
        <p:spPr>
          <a:xfrm>
            <a:off x="5718175" y="2073870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15000" y="4775795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por unidade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2800" y="5146576"/>
            <a:ext cx="528472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A:</a:t>
            </a: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abordagem humana. </a:t>
            </a:r>
            <a:r>
              <a:rPr lang="en-US" sz="14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B e C:</a:t>
            </a: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comunicação segmentada com IA.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48400" y="5146576"/>
            <a:ext cx="528472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ajuda a encontrar o “gap”, mas o relacionamento continua cooperativo e humano.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2 · ECONOMIA INTELIGENTE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50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Segmentação e recomendações acionáveis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673820"/>
            <a:ext cx="10137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9-Box, gaps de produto e campanhas sugeridas orientam o trabalho das equipes.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080220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Matriz 9-Box da carteira">    </p:cNvPr>
          <p:cNvPicPr>
            <a:picLocks noChangeAspect="1"/>
          </p:cNvPicPr>
          <p:nvPr/>
        </p:nvPicPr>
        <p:blipFill>
          <a:blip r:embed="rId2"/>
          <a:srcRect l="-106" r="-106" t="0" b="0"/>
          <a:stretch/>
        </p:blipFill>
        <p:spPr>
          <a:xfrm>
            <a:off x="819150" y="2086570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5975" y="2083395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4785320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9-Box da carteira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0" y="2080220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2" descr="Ações sugeridas por subgrupo">    </p:cNvPr>
          <p:cNvPicPr>
            <a:picLocks noChangeAspect="1"/>
          </p:cNvPicPr>
          <p:nvPr/>
        </p:nvPicPr>
        <p:blipFill>
          <a:blip r:embed="rId3"/>
          <a:srcRect l="-157" r="-157" t="0" b="0"/>
          <a:stretch/>
        </p:blipFill>
        <p:spPr>
          <a:xfrm>
            <a:off x="5721350" y="2086570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12" name="Shape 7"/>
          <p:cNvSpPr/>
          <p:nvPr/>
        </p:nvSpPr>
        <p:spPr>
          <a:xfrm>
            <a:off x="5718175" y="2083395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15000" y="4785320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sugeridas por subgrupo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2800" y="5156101"/>
            <a:ext cx="1013777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7FB0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Humano no centro: </a:t>
            </a:r>
            <a:r>
              <a:rPr lang="en-US" sz="17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IA sugere a pauta, mas a visita, a negociação e a decisão continuam na relação cooperativa.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4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D9E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3 · GOVERNANÇA INTELIGENTE</a:t>
            </a:r>
            <a:endParaRPr lang="en-US" sz="1196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0555"/>
            <a:ext cx="9810750" cy="435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9"/>
              </a:lnSpc>
              <a:buNone/>
            </a:pPr>
            <a:r>
              <a:rPr lang="en-US" sz="2972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J.U.L.I.A., o copiloto de gestão</a:t>
            </a:r>
            <a:endParaRPr lang="en-US" sz="2972" dirty="0"/>
          </a:p>
        </p:txBody>
      </p:sp>
      <p:sp>
        <p:nvSpPr>
          <p:cNvPr id="5" name="Text 2"/>
          <p:cNvSpPr/>
          <p:nvPr/>
        </p:nvSpPr>
        <p:spPr>
          <a:xfrm>
            <a:off x="812800" y="1660723"/>
            <a:ext cx="10137775" cy="27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9"/>
              </a:lnSpc>
              <a:buNone/>
            </a:pPr>
            <a:r>
              <a:rPr lang="en-US" sz="1495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 de Comando IA torna perguntas de gestão mais simples, rastreáveis e acionáveis.</a:t>
            </a:r>
            <a:endParaRPr lang="en-US" sz="1495" dirty="0"/>
          </a:p>
        </p:txBody>
      </p:sp>
      <p:sp>
        <p:nvSpPr>
          <p:cNvPr id="6" name="Shape 3"/>
          <p:cNvSpPr/>
          <p:nvPr/>
        </p:nvSpPr>
        <p:spPr>
          <a:xfrm>
            <a:off x="812800" y="2052340"/>
            <a:ext cx="6350000" cy="3575050"/>
          </a:xfrm>
          <a:prstGeom prst="roundRect">
            <a:avLst>
              <a:gd name="adj" fmla="val 2131"/>
            </a:avLst>
          </a:prstGeom>
          <a:solidFill>
            <a:srgbClr val="0A1630"/>
          </a:solidFill>
          <a:ln/>
          <a:effectLst>
            <a:outerShdw sx="100000" sy="100000" kx="0" ky="0" algn="bl" rotWithShape="0" blurRad="304800" dist="1524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1" descr="J.U.L.I.A., copiloto de gestão">    </p:cNvPr>
          <p:cNvPicPr>
            <a:picLocks noChangeAspect="1"/>
          </p:cNvPicPr>
          <p:nvPr/>
        </p:nvPicPr>
        <p:blipFill>
          <a:blip r:embed="rId2"/>
          <a:srcRect l="-47" r="-47" t="0" b="0"/>
          <a:stretch/>
        </p:blipFill>
        <p:spPr>
          <a:xfrm>
            <a:off x="819150" y="2058690"/>
            <a:ext cx="6337300" cy="3562350"/>
          </a:xfrm>
          <a:prstGeom prst="roundRect">
            <a:avLst>
              <a:gd name="adj" fmla="val 1961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5975" y="2055515"/>
            <a:ext cx="6343650" cy="3568700"/>
          </a:xfrm>
          <a:prstGeom prst="roundRect">
            <a:avLst>
              <a:gd name="adj" fmla="val 2046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5690890"/>
            <a:ext cx="65405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J.U.L.I.A. · Central de Comando IA</a:t>
            </a:r>
            <a:endParaRPr lang="en-US" sz="1300" dirty="0"/>
          </a:p>
        </p:txBody>
      </p:sp>
      <p:pic>
        <p:nvPicPr>
          <p:cNvPr id="10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18400" y="2052340"/>
            <a:ext cx="3860800" cy="12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18400" y="2192040"/>
            <a:ext cx="431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051800" y="2249190"/>
            <a:ext cx="3427222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Perguntar em linguagem natural</a:t>
            </a:r>
            <a:endParaRPr lang="en-US" sz="1500" dirty="0"/>
          </a:p>
        </p:txBody>
      </p:sp>
      <p:pic>
        <p:nvPicPr>
          <p:cNvPr id="13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18400" y="2639020"/>
            <a:ext cx="3860800" cy="12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8400" y="2778720"/>
            <a:ext cx="431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051800" y="2835870"/>
            <a:ext cx="342722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Consultar BI, CRM, funil e campanhas</a:t>
            </a:r>
            <a:endParaRPr lang="en-US" sz="1500" dirty="0"/>
          </a:p>
        </p:txBody>
      </p:sp>
      <p:pic>
        <p:nvPicPr>
          <p:cNvPr id="16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18400" y="3439120"/>
            <a:ext cx="3860800" cy="127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18400" y="3578820"/>
            <a:ext cx="431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8051800" y="3635970"/>
            <a:ext cx="342722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 sínteses para decisão humana</a:t>
            </a:r>
            <a:endParaRPr lang="en-US" sz="1500" dirty="0"/>
          </a:p>
        </p:txBody>
      </p:sp>
      <p:pic>
        <p:nvPicPr>
          <p:cNvPr id="19" name="Image 5" descr="lin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518400" y="4239220"/>
            <a:ext cx="3860800" cy="127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18400" y="4378920"/>
            <a:ext cx="431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8051800" y="4436070"/>
            <a:ext cx="3427222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contexto e próximos passos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D9E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3 · GOVERNANÇA INTELIGENTE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150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IA também lê a gestão interna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673820"/>
            <a:ext cx="1013777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princípio vale para lojas, unidades e áreas de negócio: indicadores claros, diagnóstico e ação.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070695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Score de gestão por loja">    </p:cNvPr>
          <p:cNvPicPr>
            <a:picLocks noChangeAspect="1"/>
          </p:cNvPicPr>
          <p:nvPr/>
        </p:nvPicPr>
        <p:blipFill>
          <a:blip r:embed="rId2"/>
          <a:srcRect l="-142" r="-142" t="0" b="0"/>
          <a:stretch/>
        </p:blipFill>
        <p:spPr>
          <a:xfrm>
            <a:off x="819150" y="2077045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815975" y="2073870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12800" y="4775795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de gestão por loja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15000" y="2070695"/>
            <a:ext cx="4699000" cy="2641600"/>
          </a:xfrm>
          <a:prstGeom prst="roundRect">
            <a:avLst>
              <a:gd name="adj" fmla="val 2885"/>
            </a:avLst>
          </a:prstGeom>
          <a:solidFill>
            <a:srgbClr val="0A1630"/>
          </a:solidFill>
          <a:ln/>
          <a:effectLst>
            <a:outerShdw sx="100000" sy="100000" kx="0" ky="0" algn="bl" rotWithShape="0" blurRad="254000" dist="1270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2" descr="Diagnóstico de contas e desempenho">    </p:cNvPr>
          <p:cNvPicPr>
            <a:picLocks noChangeAspect="1"/>
          </p:cNvPicPr>
          <p:nvPr/>
        </p:nvPicPr>
        <p:blipFill>
          <a:blip r:embed="rId3"/>
          <a:srcRect l="-95" r="-95" t="0" b="0"/>
          <a:stretch/>
        </p:blipFill>
        <p:spPr>
          <a:xfrm>
            <a:off x="5721350" y="2077045"/>
            <a:ext cx="4686300" cy="2628900"/>
          </a:xfrm>
          <a:prstGeom prst="roundRect">
            <a:avLst>
              <a:gd name="adj" fmla="val 2657"/>
            </a:avLst>
          </a:prstGeom>
        </p:spPr>
      </p:pic>
      <p:sp>
        <p:nvSpPr>
          <p:cNvPr id="12" name="Shape 7"/>
          <p:cNvSpPr/>
          <p:nvPr/>
        </p:nvSpPr>
        <p:spPr>
          <a:xfrm>
            <a:off x="5718175" y="2073870"/>
            <a:ext cx="4692650" cy="2635250"/>
          </a:xfrm>
          <a:prstGeom prst="roundRect">
            <a:avLst>
              <a:gd name="adj" fmla="val 2771"/>
            </a:avLst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715000" y="4775795"/>
            <a:ext cx="483997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contas e desempenho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12800" y="5146576"/>
            <a:ext cx="352308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Visibilidade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12800" y="5509716"/>
            <a:ext cx="35230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da reunião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385667" y="5146576"/>
            <a:ext cx="352318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7FB0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Diagnóstico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385667" y="5509716"/>
            <a:ext cx="352318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que piorou ou melhorou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958634" y="5146576"/>
            <a:ext cx="352318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D9E4F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Ação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958634" y="5509716"/>
            <a:ext cx="352318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responsabilidade humana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 INICIATIVAS · AGENTES DE IA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277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Convert e Agrobi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699220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Convert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2123380"/>
            <a:ext cx="52847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de IA que conversam diretamente com o cliente pelo WhatsApp corporativo.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3012380"/>
            <a:ext cx="5130800" cy="2286000"/>
          </a:xfrm>
          <a:prstGeom prst="roundRect">
            <a:avLst>
              <a:gd name="adj" fmla="val 5556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8" name="Image 1" descr="Cora, assistente virtual da Cotripal">    </p:cNvPr>
          <p:cNvPicPr>
            <a:picLocks noChangeAspect="1"/>
          </p:cNvPicPr>
          <p:nvPr/>
        </p:nvPicPr>
        <p:blipFill>
          <a:blip r:embed="rId2"/>
          <a:srcRect l="0" r="0" t="-18" b="-18"/>
          <a:stretch/>
        </p:blipFill>
        <p:spPr>
          <a:xfrm>
            <a:off x="2463800" y="3012380"/>
            <a:ext cx="1828800" cy="2286000"/>
          </a:xfrm>
          <a:prstGeom prst="roundRect">
            <a:avLst>
              <a:gd name="adj" fmla="val 4167"/>
            </a:avLst>
          </a:prstGeom>
        </p:spPr>
      </p:pic>
      <p:sp>
        <p:nvSpPr>
          <p:cNvPr id="9" name="Text 5"/>
          <p:cNvSpPr/>
          <p:nvPr/>
        </p:nvSpPr>
        <p:spPr>
          <a:xfrm>
            <a:off x="812800" y="5387280"/>
            <a:ext cx="528472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Cora, assistente virtual da Cotripal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248400" y="1699220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7FB0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Agrobi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248400" y="2123380"/>
            <a:ext cx="528472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especialistas em áreas de negócio: leem e compreendem os dados e trazem sugestões estratégicas para gestores e líderes.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48400" y="3012380"/>
            <a:ext cx="5130800" cy="2286000"/>
          </a:xfrm>
          <a:prstGeom prst="roundRect">
            <a:avLst>
              <a:gd name="adj" fmla="val 5556"/>
            </a:avLst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13" name="Image 2" descr="Agentes da Agrobi: Analista de Resultado Agrícola e Analista de Grão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85000" y="3012380"/>
            <a:ext cx="3657600" cy="2286000"/>
          </a:xfrm>
          <a:prstGeom prst="roundRect">
            <a:avLst>
              <a:gd name="adj" fmla="val 3333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6248400" y="5387280"/>
            <a:ext cx="528472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Analista de Resultado Agrícola e Analista de Grãos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MODERNIZAÇÃO DO ERP COBOL · STRATA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404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STRATA: do legado ao conhecimento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724620"/>
            <a:ext cx="10137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Modernizar o ERP COBOL começa por compreender a arquitetura de tecnologia e de negócios da Cotripal, em cinco fases.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612330"/>
            <a:ext cx="1520627" cy="787995"/>
          </a:xfrm>
          <a:prstGeom prst="roundRect">
            <a:avLst>
              <a:gd name="adj" fmla="val 12893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2764730"/>
            <a:ext cx="12920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52500" y="3028851"/>
            <a:ext cx="138092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Padronização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384227" y="2855218"/>
            <a:ext cx="279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714427" y="2502793"/>
            <a:ext cx="1893094" cy="1007070"/>
          </a:xfrm>
          <a:prstGeom prst="roundRect">
            <a:avLst>
              <a:gd name="adj" fmla="val 10089"/>
            </a:avLst>
          </a:prstGeom>
          <a:solidFill>
            <a:srgbClr val="8BC53F">
              <a:alpha val="1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54127" y="2655193"/>
            <a:ext cx="16644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54127" y="2919313"/>
            <a:ext cx="166449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Reconstrução (as-is)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58266" y="2555478"/>
            <a:ext cx="412909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1370" y="2763738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48398" y="3091359"/>
            <a:ext cx="83264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suficiente?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21920" y="2404070"/>
            <a:ext cx="1520627" cy="1204516"/>
          </a:xfrm>
          <a:prstGeom prst="roundRect">
            <a:avLst>
              <a:gd name="adj" fmla="val 843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661620" y="2556470"/>
            <a:ext cx="12920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1620" y="2820591"/>
            <a:ext cx="129202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Elicitação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1620" y="3090466"/>
            <a:ext cx="129202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capture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93293" y="2555478"/>
            <a:ext cx="412909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66397" y="2763738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083425" y="3091359"/>
            <a:ext cx="83264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suficiente?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956947" y="2502793"/>
            <a:ext cx="1520627" cy="1007070"/>
          </a:xfrm>
          <a:prstGeom prst="roundRect">
            <a:avLst>
              <a:gd name="adj" fmla="val 10089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096647" y="2655193"/>
            <a:ext cx="12920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96647" y="2919313"/>
            <a:ext cx="1292027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Projeção (to-be)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528373" y="2855218"/>
            <a:ext cx="2794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9858573" y="2502793"/>
            <a:ext cx="1520627" cy="1007070"/>
          </a:xfrm>
          <a:prstGeom prst="roundRect">
            <a:avLst>
              <a:gd name="adj" fmla="val 10089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9998273" y="2655193"/>
            <a:ext cx="12920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98273" y="2919313"/>
            <a:ext cx="1292027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Ingestão (RAG)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12800" y="377368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DA FASE 1: SEIS CAMADAS, PRIORIZADAS POR RISCO</a:t>
            </a:r>
            <a:endParaRPr lang="en-US" sz="1200" dirty="0"/>
          </a:p>
        </p:txBody>
      </p:sp>
      <p:pic>
        <p:nvPicPr>
          <p:cNvPr id="31" name="Image 1" descr="line">    </p:cNvPr>
          <p:cNvPicPr>
            <a:picLocks noChangeAspect="1"/>
          </p:cNvPicPr>
          <p:nvPr/>
        </p:nvPicPr>
        <p:blipFill>
          <a:blip r:embed="rId2"/>
          <a:srcRect l="0" r="0" t="-65" b="-65"/>
          <a:stretch/>
        </p:blipFill>
        <p:spPr>
          <a:xfrm>
            <a:off x="812800" y="4152106"/>
            <a:ext cx="1433215" cy="254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12800" y="4228306"/>
            <a:ext cx="14840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Priorização por risco</a:t>
            </a:r>
            <a:endParaRPr lang="en-US" sz="1300" dirty="0"/>
          </a:p>
        </p:txBody>
      </p:sp>
      <p:pic>
        <p:nvPicPr>
          <p:cNvPr id="33" name="Image 2" descr="line">    </p:cNvPr>
          <p:cNvPicPr>
            <a:picLocks noChangeAspect="1"/>
          </p:cNvPicPr>
          <p:nvPr/>
        </p:nvPicPr>
        <p:blipFill>
          <a:blip r:embed="rId3"/>
          <a:srcRect l="0" r="0" t="-63" b="-63"/>
          <a:stretch/>
        </p:blipFill>
        <p:spPr>
          <a:xfrm>
            <a:off x="2334915" y="4152106"/>
            <a:ext cx="1433314" cy="25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334915" y="4228306"/>
            <a:ext cx="14841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Estrutura</a:t>
            </a:r>
            <a:endParaRPr lang="en-US" sz="1300" dirty="0"/>
          </a:p>
        </p:txBody>
      </p:sp>
      <p:pic>
        <p:nvPicPr>
          <p:cNvPr id="35" name="Image 3" descr="line">    </p:cNvPr>
          <p:cNvPicPr>
            <a:picLocks noChangeAspect="1"/>
          </p:cNvPicPr>
          <p:nvPr/>
        </p:nvPicPr>
        <p:blipFill>
          <a:blip r:embed="rId4"/>
          <a:srcRect l="0" r="0" t="-65" b="-65"/>
          <a:stretch/>
        </p:blipFill>
        <p:spPr>
          <a:xfrm>
            <a:off x="3857129" y="4152106"/>
            <a:ext cx="1433215" cy="254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857129" y="4228306"/>
            <a:ext cx="1484015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Dados</a:t>
            </a:r>
            <a:endParaRPr lang="en-US" sz="1300" dirty="0"/>
          </a:p>
        </p:txBody>
      </p:sp>
      <p:pic>
        <p:nvPicPr>
          <p:cNvPr id="37" name="Image 4" descr="line">    </p:cNvPr>
          <p:cNvPicPr>
            <a:picLocks noChangeAspect="1"/>
          </p:cNvPicPr>
          <p:nvPr/>
        </p:nvPicPr>
        <p:blipFill>
          <a:blip r:embed="rId5"/>
          <a:srcRect l="0" r="0" t="-63" b="-63"/>
          <a:stretch/>
        </p:blipFill>
        <p:spPr>
          <a:xfrm>
            <a:off x="5379244" y="4152106"/>
            <a:ext cx="1433314" cy="254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79244" y="4228306"/>
            <a:ext cx="148411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Lógica / procedimento</a:t>
            </a:r>
            <a:endParaRPr lang="en-US" sz="1300" dirty="0"/>
          </a:p>
        </p:txBody>
      </p:sp>
      <p:pic>
        <p:nvPicPr>
          <p:cNvPr id="39" name="Image 5" descr="line">    </p:cNvPr>
          <p:cNvPicPr>
            <a:picLocks noChangeAspect="1"/>
          </p:cNvPicPr>
          <p:nvPr/>
        </p:nvPicPr>
        <p:blipFill>
          <a:blip r:embed="rId6"/>
          <a:srcRect l="0" r="0" t="-63" b="-63"/>
          <a:stretch/>
        </p:blipFill>
        <p:spPr>
          <a:xfrm>
            <a:off x="6901458" y="4152106"/>
            <a:ext cx="1433314" cy="254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01458" y="4228306"/>
            <a:ext cx="14841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Integração</a:t>
            </a:r>
            <a:endParaRPr lang="en-US" sz="1300" dirty="0"/>
          </a:p>
        </p:txBody>
      </p:sp>
      <p:pic>
        <p:nvPicPr>
          <p:cNvPr id="41" name="Image 6" descr="line">    </p:cNvPr>
          <p:cNvPicPr>
            <a:picLocks noChangeAspect="1"/>
          </p:cNvPicPr>
          <p:nvPr/>
        </p:nvPicPr>
        <p:blipFill>
          <a:blip r:embed="rId7"/>
          <a:srcRect l="0" r="0" t="-63" b="-63"/>
          <a:stretch/>
        </p:blipFill>
        <p:spPr>
          <a:xfrm>
            <a:off x="8423672" y="4152106"/>
            <a:ext cx="1433314" cy="254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423672" y="4228306"/>
            <a:ext cx="148411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Interface</a:t>
            </a:r>
            <a:endParaRPr lang="en-US" sz="1300" dirty="0"/>
          </a:p>
        </p:txBody>
      </p:sp>
      <p:pic>
        <p:nvPicPr>
          <p:cNvPr id="43" name="Image 7" descr="line">    </p:cNvPr>
          <p:cNvPicPr>
            <a:picLocks noChangeAspect="1"/>
          </p:cNvPicPr>
          <p:nvPr/>
        </p:nvPicPr>
        <p:blipFill>
          <a:blip r:embed="rId8"/>
          <a:srcRect l="0" r="0" t="-63" b="-63"/>
          <a:stretch/>
        </p:blipFill>
        <p:spPr>
          <a:xfrm>
            <a:off x="9945886" y="4152106"/>
            <a:ext cx="1433314" cy="254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945886" y="4228306"/>
            <a:ext cx="148411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Regra de negócio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812800" y="4806156"/>
            <a:ext cx="113792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DCE6F7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Cada camada só libera a próxima com </a:t>
            </a:r>
            <a:r>
              <a:rPr lang="en-US" sz="16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100% de cobertura</a:t>
            </a:r>
            <a:r>
              <a:rPr lang="en-US" sz="1600" b="1" dirty="0">
                <a:solidFill>
                  <a:srgbClr val="DCE6F7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. Os gates entre fases nunca são automáticos.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DE CONHECIMENTO TÁCITO · KAPTA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404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KAPTA: da conversa ao conhecimento versionado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724620"/>
            <a:ext cx="1013777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pipeline de seis etapas, com manutenção contínua e um loop de recuperação que realimenta a próxima conversa.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12800" y="2404070"/>
            <a:ext cx="1496417" cy="840680"/>
          </a:xfrm>
          <a:prstGeom prst="roundRect">
            <a:avLst>
              <a:gd name="adj" fmla="val 120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39800" y="255647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9800" y="2807891"/>
            <a:ext cx="12932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Elicitar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47317" y="2691011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26717" y="2404070"/>
            <a:ext cx="1496516" cy="840680"/>
          </a:xfrm>
          <a:prstGeom prst="roundRect">
            <a:avLst>
              <a:gd name="adj" fmla="val 120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753717" y="2556470"/>
            <a:ext cx="129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53717" y="2807891"/>
            <a:ext cx="12933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Extrair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61334" y="2691011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440734" y="2404070"/>
            <a:ext cx="1496417" cy="840680"/>
          </a:xfrm>
          <a:prstGeom prst="roundRect">
            <a:avLst>
              <a:gd name="adj" fmla="val 120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567734" y="2556470"/>
            <a:ext cx="1293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67734" y="2807891"/>
            <a:ext cx="129321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Estruturar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75251" y="2691011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54651" y="2404070"/>
            <a:ext cx="1496516" cy="840680"/>
          </a:xfrm>
          <a:prstGeom prst="roundRect">
            <a:avLst>
              <a:gd name="adj" fmla="val 120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381651" y="2556470"/>
            <a:ext cx="129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81651" y="2807891"/>
            <a:ext cx="12933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Revisar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89267" y="2691011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68667" y="2404070"/>
            <a:ext cx="1496516" cy="840680"/>
          </a:xfrm>
          <a:prstGeom prst="roundRect">
            <a:avLst>
              <a:gd name="adj" fmla="val 12085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195667" y="2556470"/>
            <a:ext cx="129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95667" y="2807891"/>
            <a:ext cx="12933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Publicar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603284" y="2691011"/>
            <a:ext cx="241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9882684" y="2404070"/>
            <a:ext cx="1496516" cy="840680"/>
          </a:xfrm>
          <a:prstGeom prst="roundRect">
            <a:avLst>
              <a:gd name="adj" fmla="val 12085"/>
            </a:avLst>
          </a:prstGeom>
          <a:solidFill>
            <a:srgbClr val="8BC53F">
              <a:alpha val="16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0009684" y="2556470"/>
            <a:ext cx="129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009684" y="2807891"/>
            <a:ext cx="12933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Manter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2800" y="3409851"/>
            <a:ext cx="535012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Vencido:</a:t>
            </a:r>
            <a:r>
              <a:rPr lang="en-US" sz="14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conhecimento tem prazo; ao vencer, volta para a elicitação.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84900" y="3409851"/>
            <a:ext cx="535012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Recuperar:</a:t>
            </a:r>
            <a:r>
              <a:rPr lang="en-US" sz="14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foi mantido alimenta a recuperação, que informa a próxima conversa.</a:t>
            </a:r>
            <a:endParaRPr lang="en-US" sz="1400" dirty="0"/>
          </a:p>
        </p:txBody>
      </p:sp>
      <p:pic>
        <p:nvPicPr>
          <p:cNvPr id="31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4054971"/>
            <a:ext cx="3352800" cy="254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12800" y="4143871"/>
            <a:ext cx="34533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812800" y="4456212"/>
            <a:ext cx="345338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Artefato é arquivo de texto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Proveniência obrigatória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Conhecimento tem prazo</a:t>
            </a:r>
            <a:endParaRPr lang="en-US" sz="1300" dirty="0"/>
          </a:p>
        </p:txBody>
      </p:sp>
      <p:pic>
        <p:nvPicPr>
          <p:cNvPr id="34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19600" y="4054971"/>
            <a:ext cx="3352800" cy="254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419600" y="4143871"/>
            <a:ext cx="34533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4419600" y="4456212"/>
            <a:ext cx="34533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genérico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por domínio</a:t>
            </a:r>
            <a:endParaRPr lang="en-US" sz="1300" dirty="0"/>
          </a:p>
        </p:txBody>
      </p:sp>
      <p:pic>
        <p:nvPicPr>
          <p:cNvPr id="37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26400" y="4054971"/>
            <a:ext cx="3352800" cy="254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026400" y="4143871"/>
            <a:ext cx="34533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Recuperação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8026400" y="4456212"/>
            <a:ext cx="34533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híbrido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Sempre cita a fonte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tripal">    </p:cNvPr>
          <p:cNvPicPr>
            <a:picLocks noChangeAspect="1"/>
          </p:cNvPicPr>
          <p:nvPr/>
        </p:nvPicPr>
        <p:blipFill>
          <a:blip r:embed="rId1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DE IA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40420"/>
            <a:ext cx="9810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spc="-5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inteligência precisa de governança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12800" y="1724620"/>
            <a:ext cx="1013777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FB1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governança, IA vira risco. Com governança, IA vira confiança.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2800" y="2174180"/>
            <a:ext cx="3017540" cy="1497211"/>
          </a:xfrm>
          <a:prstGeom prst="roundRect">
            <a:avLst>
              <a:gd name="adj" fmla="val 848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03300" y="2364680"/>
            <a:ext cx="2715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3300" y="2712641"/>
            <a:ext cx="271563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dos dados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3300" y="3035201"/>
            <a:ext cx="271563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histórico, consistência, atualidade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82740" y="2174180"/>
            <a:ext cx="3017540" cy="1497211"/>
          </a:xfrm>
          <a:prstGeom prst="roundRect">
            <a:avLst>
              <a:gd name="adj" fmla="val 848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73240" y="2364680"/>
            <a:ext cx="2715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73240" y="2712641"/>
            <a:ext cx="271563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73240" y="3035201"/>
            <a:ext cx="271563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claros, explicabilidade e prestação de contas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2800" y="3823791"/>
            <a:ext cx="3017540" cy="1497211"/>
          </a:xfrm>
          <a:prstGeom prst="roundRect">
            <a:avLst>
              <a:gd name="adj" fmla="val 848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03300" y="4014291"/>
            <a:ext cx="2715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3300" y="4362252"/>
            <a:ext cx="282704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e privacidade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03300" y="4684812"/>
            <a:ext cx="271563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Permissões, LGPD, rastreabilidade, auditoria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82740" y="3823791"/>
            <a:ext cx="3017540" cy="1497211"/>
          </a:xfrm>
          <a:prstGeom prst="roundRect">
            <a:avLst>
              <a:gd name="adj" fmla="val 848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173240" y="4014291"/>
            <a:ext cx="271563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BC53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73240" y="4362252"/>
            <a:ext cx="2715636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173240" y="4684812"/>
            <a:ext cx="271563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 humana, alçadas e validação de impacto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54280" y="2212280"/>
            <a:ext cx="4937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 DE LIDERANÇA SOBRE AGENTES</a:t>
            </a:r>
            <a:endParaRPr lang="en-US" sz="1200" dirty="0"/>
          </a:p>
        </p:txBody>
      </p:sp>
      <p:pic>
        <p:nvPicPr>
          <p:cNvPr id="23" name="Image 1" descr="line">    </p:cNvPr>
          <p:cNvPicPr>
            <a:picLocks noChangeAspect="1"/>
          </p:cNvPicPr>
          <p:nvPr/>
        </p:nvPicPr>
        <p:blipFill>
          <a:blip r:embed="rId2"/>
          <a:srcRect l="0" r="0" t="-32" b="-32"/>
          <a:stretch/>
        </p:blipFill>
        <p:spPr>
          <a:xfrm>
            <a:off x="7254280" y="2514501"/>
            <a:ext cx="4124920" cy="127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54280" y="2616101"/>
            <a:ext cx="42486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Quanta autonomia entregar?</a:t>
            </a:r>
            <a:endParaRPr lang="en-US" sz="1400" dirty="0"/>
          </a:p>
        </p:txBody>
      </p:sp>
      <p:pic>
        <p:nvPicPr>
          <p:cNvPr id="25" name="Image 2" descr="line">    </p:cNvPr>
          <p:cNvPicPr>
            <a:picLocks noChangeAspect="1"/>
          </p:cNvPicPr>
          <p:nvPr/>
        </p:nvPicPr>
        <p:blipFill>
          <a:blip r:embed="rId3"/>
          <a:srcRect l="0" r="0" t="-32" b="-32"/>
          <a:stretch/>
        </p:blipFill>
        <p:spPr>
          <a:xfrm>
            <a:off x="7254280" y="2936081"/>
            <a:ext cx="4124920" cy="127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254280" y="3037681"/>
            <a:ext cx="42486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quais dados ele pode acessar?</a:t>
            </a:r>
            <a:endParaRPr lang="en-US" sz="1400" dirty="0"/>
          </a:p>
        </p:txBody>
      </p:sp>
      <p:pic>
        <p:nvPicPr>
          <p:cNvPr id="27" name="Image 3" descr="line">    </p:cNvPr>
          <p:cNvPicPr>
            <a:picLocks noChangeAspect="1"/>
          </p:cNvPicPr>
          <p:nvPr/>
        </p:nvPicPr>
        <p:blipFill>
          <a:blip r:embed="rId4"/>
          <a:srcRect l="0" r="0" t="-32" b="-32"/>
          <a:stretch/>
        </p:blipFill>
        <p:spPr>
          <a:xfrm>
            <a:off x="7254280" y="3357662"/>
            <a:ext cx="4124920" cy="127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54280" y="3459262"/>
            <a:ext cx="42486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ações pode executar?</a:t>
            </a:r>
            <a:endParaRPr lang="en-US" sz="1400" dirty="0"/>
          </a:p>
        </p:txBody>
      </p:sp>
      <p:pic>
        <p:nvPicPr>
          <p:cNvPr id="29" name="Image 4" descr="line">    </p:cNvPr>
          <p:cNvPicPr>
            <a:picLocks noChangeAspect="1"/>
          </p:cNvPicPr>
          <p:nvPr/>
        </p:nvPicPr>
        <p:blipFill>
          <a:blip r:embed="rId5"/>
          <a:srcRect l="0" r="0" t="-32" b="-32"/>
          <a:stretch/>
        </p:blipFill>
        <p:spPr>
          <a:xfrm>
            <a:off x="7254280" y="3779242"/>
            <a:ext cx="4124920" cy="127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54280" y="3880842"/>
            <a:ext cx="424866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define os limites e quem responde se algo der errado?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12800" y="5486102"/>
            <a:ext cx="113792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confiança no modelo começa antes do modelo: </a:t>
            </a:r>
            <a:r>
              <a:rPr lang="en-US" sz="1600" b="1" dirty="0">
                <a:solidFill>
                  <a:srgbClr val="B8E07A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no dado, no consentimento e na clareza do processo.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COTRIPAL · IA COOPERATIVA EM MOVIMENTO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6F83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is produtores em um aperto de mãos ao pôr do sol">    </p:cNvPr>
          <p:cNvPicPr>
            <a:picLocks noChangeAspect="1"/>
          </p:cNvPicPr>
          <p:nvPr/>
        </p:nvPicPr>
        <p:blipFill>
          <a:blip r:embed="rId1"/>
          <a:srcRect l="40" r="4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60F26">
                  <a:alpha val="94000"/>
                </a:srgbClr>
              </a:gs>
              <a:gs pos="55000">
                <a:srgbClr val="060F26">
                  <a:alpha val="78000"/>
                </a:srgbClr>
              </a:gs>
              <a:gs pos="100000">
                <a:srgbClr val="060F26">
                  <a:alpha val="50000"/>
                </a:srgbClr>
              </a:gs>
            </a:gsLst>
            <a:lin ang="0" scaled="0"/>
          </a:gradFill>
          <a:ln/>
        </p:spPr>
      </p:sp>
      <p:pic>
        <p:nvPicPr>
          <p:cNvPr id="4" name="Image 1" descr="Cotripal">    </p:cNvPr>
          <p:cNvPicPr>
            <a:picLocks noChangeAspect="1"/>
          </p:cNvPicPr>
          <p:nvPr/>
        </p:nvPicPr>
        <p:blipFill>
          <a:blip r:embed="rId2"/>
          <a:srcRect l="-35" r="-35" t="0" b="0"/>
          <a:stretch/>
        </p:blipFill>
        <p:spPr>
          <a:xfrm>
            <a:off x="10553700" y="304800"/>
            <a:ext cx="825500" cy="412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ENCERRAMENTO</a:t>
            </a:r>
            <a:endParaRPr lang="en-US" sz="12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812800" y="1153120"/>
            <a:ext cx="850265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b="1" i="0" spc="-100" kern="0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A IA não substitui o cooperativismo.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812800" y="2557661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CE6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pode fortalecer seus princípios: participação, transparência, educação, intercooperação, valor ao associado, democracia e comunidade.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330438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BC5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QUEREMOS CHEGAR</a:t>
            </a:r>
            <a:endParaRPr lang="en-US" sz="1200" dirty="0"/>
          </a:p>
        </p:txBody>
      </p:sp>
      <p:pic>
        <p:nvPicPr>
          <p:cNvPr id="9" name="Image 2" descr="li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695502"/>
            <a:ext cx="3352800" cy="25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2800" y="377170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E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12800" y="4035822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Visibilidade e copilotos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12800" y="4345682"/>
            <a:ext cx="345338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CRM, campanhas, BI, J.U.L.I.A., agentes Convert e Agrobi</a:t>
            </a:r>
            <a:endParaRPr lang="en-US" sz="1300" dirty="0"/>
          </a:p>
        </p:txBody>
      </p:sp>
      <p:pic>
        <p:nvPicPr>
          <p:cNvPr id="13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19600" y="3695502"/>
            <a:ext cx="3352800" cy="25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19600" y="377170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FB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419600" y="4035822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Recomendação assistida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4419600" y="4345682"/>
            <a:ext cx="345338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no dia a dia do produtor, alertas técnicos, comparação regional e melhoria de manejo</a:t>
            </a:r>
            <a:endParaRPr lang="en-US" sz="1300" dirty="0"/>
          </a:p>
        </p:txBody>
      </p:sp>
      <p:pic>
        <p:nvPicPr>
          <p:cNvPr id="17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26400" y="3695502"/>
            <a:ext cx="3352800" cy="25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26400" y="377170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E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desejado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026400" y="4035822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7FC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Ecossistema de dados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026400" y="4345682"/>
            <a:ext cx="345338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C3D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Produtores, técnicos, unidades, gestão e conselho aprendendo em rede com segurança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812800" y="5192018"/>
            <a:ext cx="981075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cooperativa mais inteligente porque continua mais humana, mais transparente e mais conectada aos seus associados e à comunidade.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12800" y="6238280"/>
            <a:ext cx="9245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· NÃO É UMA CORRIDA PARA AUTOMATIZAR TUDO, É UMA JORNADA PARA DECIDIR MELHOR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8FA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Cooperativa em Movimento — Cotripal">
  <a:themeElements>
    <a:clrScheme name="IA Cooperativa em Movimento — Cotripal">
      <a:dk1>
        <a:srgbClr val="143278"/>
      </a:dk1>
      <a:lt1>
        <a:srgbClr val="F4F7FC"/>
      </a:lt1>
      <a:dk2>
        <a:srgbClr val="2A4685"/>
      </a:dk2>
      <a:lt2>
        <a:srgbClr val="BCC6DB"/>
      </a:lt2>
      <a:accent1>
        <a:srgbClr val="9FB1D1"/>
      </a:accent1>
      <a:accent2>
        <a:srgbClr val="8BC53F"/>
      </a:accent2>
      <a:accent3>
        <a:srgbClr val="6F83A8"/>
      </a:accent3>
      <a:accent4>
        <a:srgbClr val="7FB0FF"/>
      </a:accent4>
      <a:accent5>
        <a:srgbClr val="B8E07A"/>
      </a:accent5>
      <a:accent6>
        <a:srgbClr val="0B4FA8"/>
      </a:accent6>
      <a:hlink>
        <a:srgbClr val="0563C1"/>
      </a:hlink>
      <a:folHlink>
        <a:srgbClr val="954F72"/>
      </a:folHlink>
    </a:clrScheme>
    <a:fontScheme name="IA Cooperativa em Movimento — Cotripal">
      <a:majorFont>
        <a:latin typeface="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Cooperativa em Movimento — Cotripal</dc:title>
  <dc:subject/>
  <dc:creator/>
  <cp:lastModifiedBy/>
  <cp:revision>1</cp:revision>
  <dcterms:created xsi:type="dcterms:W3CDTF">2026-10-20T17:09:18Z</dcterms:created>
  <dcterms:modified xsi:type="dcterms:W3CDTF">2026-10-20T17:09:18Z</dcterms:modified>
</cp:coreProperties>
</file>